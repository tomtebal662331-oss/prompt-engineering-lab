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Hammersmith One" panose="020B0604020202020204" charset="0"/>
      <p:regular r:id="rId11"/>
    </p:embeddedFont>
    <p:embeddedFont>
      <p:font typeface="Manjari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4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7A35DD-B8C2-4F54-8E2E-CCCF4FF32452}">
  <a:tblStyle styleId="{727A35DD-B8C2-4F54-8E2E-CCCF4FF32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A4682B3-A16D-4326-8CB7-08CB984B5E78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8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BD2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CBD2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0FEE5E-42A8-4146-90D0-A2D28332EB56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tcBdr/>
        <a:fill>
          <a:solidFill>
            <a:srgbClr val="CBD7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7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EB2FC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EB2FC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2D2F01-35EE-40FA-8B7C-3FE7965DE26D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230D2C-BA1C-457F-808E-2FCD384AEE1B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ED"/>
          </a:solidFill>
        </a:fill>
      </a:tcStyle>
    </a:wholeTbl>
    <a:band1H>
      <a:tcTxStyle/>
      <a:tcStyle>
        <a:tcBdr/>
        <a:fill>
          <a:solidFill>
            <a:srgbClr val="CADF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69E78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69E78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FDA0F16-CDA1-4932-B511-BF78665D63F3}" styleName="Table_5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FE6"/>
          </a:solidFill>
        </a:fill>
      </a:tcStyle>
    </a:wholeTbl>
    <a:band1H>
      <a:tcTxStyle/>
      <a:tcStyle>
        <a:tcBdr/>
        <a:fill>
          <a:solidFill>
            <a:srgbClr val="FAD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D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949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949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c6a01074ef_0_1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c6a01074ef_0_1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c3325048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c3325048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c33250489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c33250489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c6a01074ef_0_20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c6a01074ef_0_20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1600">
                <a:solidFill>
                  <a:srgbClr val="80686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16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111" name="Google Shape;111;p7"/>
          <p:cNvGrpSpPr/>
          <p:nvPr/>
        </p:nvGrpSpPr>
        <p:grpSpPr>
          <a:xfrm>
            <a:off x="8039875" y="1772525"/>
            <a:ext cx="2052600" cy="2052600"/>
            <a:chOff x="-1185375" y="1414000"/>
            <a:chExt cx="2052600" cy="2052600"/>
          </a:xfrm>
        </p:grpSpPr>
        <p:sp>
          <p:nvSpPr>
            <p:cNvPr id="112" name="Google Shape;112;p7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7"/>
          <p:cNvSpPr/>
          <p:nvPr/>
        </p:nvSpPr>
        <p:spPr>
          <a:xfrm flipH="1">
            <a:off x="-817503" y="2575150"/>
            <a:ext cx="2540578" cy="37814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3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6" name="Google Shape;216;p13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7" name="Google Shape;217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8" name="Google Shape;218;p1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2" name="Google Shape;222;p13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3" name="Google Shape;223;p13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4" name="Google Shape;224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7" name="Google Shape;227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0" name="Google Shape;230;p13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3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rot="-1690000">
            <a:off x="4770052" y="3432202"/>
            <a:ext cx="4311133" cy="265232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8"/>
          <p:cNvSpPr/>
          <p:nvPr/>
        </p:nvSpPr>
        <p:spPr>
          <a:xfrm rot="-8976185">
            <a:off x="-892229" y="695729"/>
            <a:ext cx="3210901" cy="31975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18"/>
          <p:cNvGrpSpPr/>
          <p:nvPr/>
        </p:nvGrpSpPr>
        <p:grpSpPr>
          <a:xfrm>
            <a:off x="5420243" y="-954594"/>
            <a:ext cx="2270935" cy="2260334"/>
            <a:chOff x="6762468" y="1386456"/>
            <a:chExt cx="2270935" cy="2260334"/>
          </a:xfrm>
        </p:grpSpPr>
        <p:sp>
          <p:nvSpPr>
            <p:cNvPr id="367" name="Google Shape;367;p18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18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1" name="Google Shape;401;p18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24_1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-598400" y="3985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7295305" y="-672969"/>
            <a:ext cx="2270935" cy="2260334"/>
            <a:chOff x="6762468" y="1386456"/>
            <a:chExt cx="2270935" cy="2260334"/>
          </a:xfrm>
        </p:grpSpPr>
        <p:sp>
          <p:nvSpPr>
            <p:cNvPr id="408" name="Google Shape;408;p19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8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 rot="5035045">
            <a:off x="-2322768" y="2876704"/>
            <a:ext cx="5262855" cy="323795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4" name="Google Shape;524;p23"/>
          <p:cNvGrpSpPr/>
          <p:nvPr/>
        </p:nvGrpSpPr>
        <p:grpSpPr>
          <a:xfrm>
            <a:off x="-107118" y="-842535"/>
            <a:ext cx="2304462" cy="2293869"/>
            <a:chOff x="2414491" y="671177"/>
            <a:chExt cx="1830972" cy="1822411"/>
          </a:xfrm>
        </p:grpSpPr>
        <p:sp>
          <p:nvSpPr>
            <p:cNvPr id="525" name="Google Shape;525;p2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9" name="Google Shape;559;p23"/>
          <p:cNvSpPr/>
          <p:nvPr/>
        </p:nvSpPr>
        <p:spPr>
          <a:xfrm rot="-4280482">
            <a:off x="6793782" y="-1466885"/>
            <a:ext cx="3375483" cy="502433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 rot="-7977677">
            <a:off x="5123145" y="40561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2" name="Google Shape;562;p23"/>
          <p:cNvSpPr txBox="1">
            <a:spLocks noGrp="1"/>
          </p:cNvSpPr>
          <p:nvPr>
            <p:ph type="subTitle" idx="1"/>
          </p:nvPr>
        </p:nvSpPr>
        <p:spPr>
          <a:xfrm>
            <a:off x="7132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23"/>
          <p:cNvSpPr txBox="1">
            <a:spLocks noGrp="1"/>
          </p:cNvSpPr>
          <p:nvPr>
            <p:ph type="subTitle" idx="2"/>
          </p:nvPr>
        </p:nvSpPr>
        <p:spPr>
          <a:xfrm>
            <a:off x="348810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23"/>
          <p:cNvSpPr txBox="1">
            <a:spLocks noGrp="1"/>
          </p:cNvSpPr>
          <p:nvPr>
            <p:ph type="subTitle" idx="3"/>
          </p:nvPr>
        </p:nvSpPr>
        <p:spPr>
          <a:xfrm>
            <a:off x="7132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23"/>
          <p:cNvSpPr txBox="1">
            <a:spLocks noGrp="1"/>
          </p:cNvSpPr>
          <p:nvPr>
            <p:ph type="subTitle" idx="4"/>
          </p:nvPr>
        </p:nvSpPr>
        <p:spPr>
          <a:xfrm>
            <a:off x="348810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23"/>
          <p:cNvSpPr txBox="1">
            <a:spLocks noGrp="1"/>
          </p:cNvSpPr>
          <p:nvPr>
            <p:ph type="subTitle" idx="5"/>
          </p:nvPr>
        </p:nvSpPr>
        <p:spPr>
          <a:xfrm>
            <a:off x="62629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23"/>
          <p:cNvSpPr txBox="1">
            <a:spLocks noGrp="1"/>
          </p:cNvSpPr>
          <p:nvPr>
            <p:ph type="subTitle" idx="6"/>
          </p:nvPr>
        </p:nvSpPr>
        <p:spPr>
          <a:xfrm>
            <a:off x="62629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8" r:id="rId5"/>
    <p:sldLayoutId id="2147483659" r:id="rId6"/>
    <p:sldLayoutId id="2147483664" r:id="rId7"/>
    <p:sldLayoutId id="2147483665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193040"/>
            <a:ext cx="9144000" cy="743112"/>
          </a:xfrm>
        </p:spPr>
        <p:txBody>
          <a:bodyPr/>
          <a:lstStyle/>
          <a:p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Prompt Engineering </a:t>
            </a:r>
            <a:r>
              <a:rPr lang="en-US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Experiment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54000" y="2479040"/>
            <a:ext cx="8636000" cy="2042160"/>
          </a:xfrm>
        </p:spPr>
        <p:txBody>
          <a:bodyPr/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ar-EG" altLang="en-US" sz="2400" b="1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How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Prompt Design Affects Generative AI Output </a:t>
            </a:r>
            <a:r>
              <a:rPr lang="en-US" altLang="en-US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Quality</a:t>
            </a:r>
            <a:endParaRPr lang="ar-EG" altLang="en-US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Evaluation of Zero-shot, Few-shot, and Refined Prompt Strategies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55"/>
          <p:cNvSpPr txBox="1">
            <a:spLocks noGrp="1"/>
          </p:cNvSpPr>
          <p:nvPr>
            <p:ph type="title"/>
          </p:nvPr>
        </p:nvSpPr>
        <p:spPr>
          <a:xfrm>
            <a:off x="830090" y="118573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>
                <a:solidFill>
                  <a:srgbClr val="002060"/>
                </a:solidFill>
              </a:rPr>
              <a:t>Problem</a:t>
            </a:r>
            <a:r>
              <a:rPr lang="en-US" dirty="0">
                <a:solidFill>
                  <a:srgbClr val="002060"/>
                </a:solidFill>
              </a:rPr>
              <a:t>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680" y="660073"/>
            <a:ext cx="891032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Generative AI output quality depends heavily on how the prompt is designed.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Vague prompts may produce relevant content but with weaker structure and completeness.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More specific prompts can guide the AI toward clearer, more useful, and better-organized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This experiment tests how different prompt strategies affect the quality of the same travel-planning task.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5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Experiment Design</a:t>
            </a:r>
            <a:endParaRPr dirty="0"/>
          </a:p>
        </p:txBody>
      </p:sp>
      <p:sp>
        <p:nvSpPr>
          <p:cNvPr id="19" name="Rectangle 1"/>
          <p:cNvSpPr>
            <a:spLocks noGrp="1" noChangeArrowheads="1"/>
          </p:cNvSpPr>
          <p:nvPr>
            <p:ph type="title" idx="14"/>
          </p:nvPr>
        </p:nvSpPr>
        <p:spPr bwMode="auto">
          <a:xfrm>
            <a:off x="1615123" y="1064525"/>
            <a:ext cx="46027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Same AI Model</a:t>
            </a: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Same Input</a:t>
            </a: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Same Use Case</a:t>
            </a: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Different Prompt Strategies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r-EG" altLang="en-US" sz="1800" b="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/>
            </a:r>
            <a:br>
              <a:rPr lang="ar-EG" altLang="en-US" sz="1800" b="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7"/>
          <p:cNvSpPr txBox="1">
            <a:spLocks noGrp="1"/>
          </p:cNvSpPr>
          <p:nvPr>
            <p:ph type="title"/>
          </p:nvPr>
        </p:nvSpPr>
        <p:spPr>
          <a:xfrm>
            <a:off x="1569447" y="329090"/>
            <a:ext cx="6005100" cy="6157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Prompt Strategies</a:t>
            </a:r>
          </a:p>
        </p:txBody>
      </p:sp>
      <p:sp>
        <p:nvSpPr>
          <p:cNvPr id="1357" name="Google Shape;1357;p57"/>
          <p:cNvSpPr/>
          <p:nvPr/>
        </p:nvSpPr>
        <p:spPr>
          <a:xfrm>
            <a:off x="3881688" y="3991450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66470" y="2608035"/>
            <a:ext cx="73916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Zero-shot: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Direct instruction without examples.</a:t>
            </a:r>
            <a:endParaRPr kumimoji="0" lang="ar-EG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Few-shot: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Instruction supported by examples.</a:t>
            </a:r>
            <a:endParaRPr kumimoji="0" lang="ar-EG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Refined Prompt: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Detailed instructions with clear structure and constraints.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8"/>
          <p:cNvSpPr txBox="1">
            <a:spLocks noGrp="1"/>
          </p:cNvSpPr>
          <p:nvPr>
            <p:ph type="title"/>
          </p:nvPr>
        </p:nvSpPr>
        <p:spPr>
          <a:xfrm>
            <a:off x="830870" y="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Results</a:t>
            </a:r>
          </a:p>
        </p:txBody>
      </p:sp>
      <p:sp>
        <p:nvSpPr>
          <p:cNvPr id="1364" name="Google Shape;1364;p58"/>
          <p:cNvSpPr/>
          <p:nvPr/>
        </p:nvSpPr>
        <p:spPr>
          <a:xfrm>
            <a:off x="406519" y="2204696"/>
            <a:ext cx="6919" cy="10401"/>
          </a:xfrm>
          <a:custGeom>
            <a:avLst/>
            <a:gdLst/>
            <a:ahLst/>
            <a:cxnLst/>
            <a:rect l="l" t="t" r="r" b="b"/>
            <a:pathLst>
              <a:path w="161" h="242" extrusionOk="0">
                <a:moveTo>
                  <a:pt x="81" y="1"/>
                </a:moveTo>
                <a:lnTo>
                  <a:pt x="0" y="161"/>
                </a:lnTo>
                <a:lnTo>
                  <a:pt x="134" y="241"/>
                </a:lnTo>
                <a:cubicBezTo>
                  <a:pt x="134" y="161"/>
                  <a:pt x="134" y="108"/>
                  <a:pt x="161" y="27"/>
                </a:cubicBezTo>
                <a:lnTo>
                  <a:pt x="81" y="1"/>
                </a:lnTo>
                <a:close/>
              </a:path>
            </a:pathLst>
          </a:custGeom>
          <a:solidFill>
            <a:srgbClr val="806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10000"/>
                </a:scheme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401947"/>
              </p:ext>
            </p:extLst>
          </p:nvPr>
        </p:nvGraphicFramePr>
        <p:xfrm>
          <a:off x="-2" y="541497"/>
          <a:ext cx="9144004" cy="358346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225035380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906600924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589092391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1437707348"/>
                    </a:ext>
                  </a:extLst>
                </a:gridCol>
              </a:tblGrid>
              <a:tr h="60321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Zero-Shot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Few-Shot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Refined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373409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Relevance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163380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Completeness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925252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399513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Constraint Adherence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406408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Usefulness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348555"/>
                  </a:ext>
                </a:extLst>
              </a:tr>
              <a:tr h="4967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17/25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19/25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25/25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2035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3438" y="4166322"/>
            <a:ext cx="74605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Key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Refined Prompt achieved the highest score: 25/25.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Evidence</a:t>
            </a:r>
            <a:endParaRPr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42130" y="1064525"/>
            <a:ext cx="2167800" cy="454500"/>
          </a:xfrm>
        </p:spPr>
        <p:txBody>
          <a:bodyPr/>
          <a:lstStyle/>
          <a:p>
            <a:r>
              <a:rPr lang="en-US" dirty="0"/>
              <a:t>Zero-Shot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>
          <a:xfrm>
            <a:off x="712788" y="2165206"/>
            <a:ext cx="2167800" cy="454500"/>
          </a:xfrm>
        </p:spPr>
        <p:txBody>
          <a:bodyPr/>
          <a:lstStyle/>
          <a:p>
            <a:r>
              <a:rPr lang="en-US" dirty="0"/>
              <a:t>Few-Shot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>
          <a:xfrm>
            <a:off x="712788" y="2651119"/>
            <a:ext cx="7617950" cy="771516"/>
          </a:xfrm>
        </p:spPr>
        <p:txBody>
          <a:bodyPr/>
          <a:lstStyle/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 smtClean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More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consistent formatting and structure.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Followed the style of the provided examples.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Some logistical and budget details were missing.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5"/>
          </p:nvPr>
        </p:nvSpPr>
        <p:spPr>
          <a:xfrm>
            <a:off x="641350" y="3517942"/>
            <a:ext cx="3086590" cy="454500"/>
          </a:xfrm>
        </p:spPr>
        <p:txBody>
          <a:bodyPr/>
          <a:lstStyle/>
          <a:p>
            <a:r>
              <a:rPr lang="en-US" dirty="0" smtClean="0"/>
              <a:t>Refined Prompt</a:t>
            </a:r>
            <a:endParaRPr lang="en-US" dirty="0"/>
          </a:p>
        </p:txBody>
      </p:sp>
      <p:sp>
        <p:nvSpPr>
          <p:cNvPr id="8" name="Rectangle 1"/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12788" y="1454981"/>
            <a:ext cx="80552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Detailed itinerary with morning, afternoon, and evening activities.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Relevant content, but the output was more dense and less scannable. 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subTitle" idx="6"/>
          </p:nvPr>
        </p:nvSpPr>
        <p:spPr bwMode="auto">
          <a:xfrm>
            <a:off x="641350" y="3890467"/>
            <a:ext cx="825881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Clear Markdown table covering all required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Included transportation and budget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Best organized and most actionable output.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0"/>
          <p:cNvSpPr txBox="1">
            <a:spLocks noGrp="1"/>
          </p:cNvSpPr>
          <p:nvPr>
            <p:ph type="title"/>
          </p:nvPr>
        </p:nvSpPr>
        <p:spPr>
          <a:xfrm>
            <a:off x="1569450" y="314960"/>
            <a:ext cx="6005100" cy="7384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1377" name="Google Shape;1377;p60"/>
          <p:cNvSpPr/>
          <p:nvPr/>
        </p:nvSpPr>
        <p:spPr>
          <a:xfrm>
            <a:off x="3881688" y="3819325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60322" y="684185"/>
            <a:ext cx="80233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Prompt design has a strong impact on Generative AI output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Zero-Shot: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Relevant, but less structured.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Few-Shot: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Better consistency and formatting.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Refined Prompt: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Highest quality and strongest constraint adherence.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Best Prompt: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Refined Prompt —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25/25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Clear instructions, structure, and constraints produced a more useful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What We Learned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Better prompts → Better, clearer, and more actionable AI outputs.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3520" y="508000"/>
            <a:ext cx="8105630" cy="3352800"/>
          </a:xfrm>
        </p:spPr>
        <p:txBody>
          <a:bodyPr/>
          <a:lstStyle/>
          <a:p>
            <a:r>
              <a:rPr lang="en-US" sz="5400" dirty="0" smtClean="0">
                <a:solidFill>
                  <a:srgbClr val="614C86"/>
                </a:solidFill>
              </a:rPr>
              <a:t>THANK </a:t>
            </a:r>
            <a:br>
              <a:rPr lang="en-US" sz="5400" dirty="0" smtClean="0">
                <a:solidFill>
                  <a:srgbClr val="614C86"/>
                </a:solidFill>
              </a:rPr>
            </a:br>
            <a:r>
              <a:rPr lang="en-US" sz="5400" dirty="0" smtClean="0">
                <a:solidFill>
                  <a:srgbClr val="614C86"/>
                </a:solidFill>
              </a:rPr>
              <a:t>YOU</a:t>
            </a:r>
            <a:endParaRPr lang="en-US" sz="5400" dirty="0">
              <a:solidFill>
                <a:srgbClr val="614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87526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Education Pack for Students by Slidesgo">
  <a:themeElements>
    <a:clrScheme name="Simple Light">
      <a:dk1>
        <a:srgbClr val="FFFFFF"/>
      </a:dk1>
      <a:lt1>
        <a:srgbClr val="E4DFED"/>
      </a:lt1>
      <a:dk2>
        <a:srgbClr val="9D8BCA"/>
      </a:dk2>
      <a:lt2>
        <a:srgbClr val="FFFFFF"/>
      </a:lt2>
      <a:accent1>
        <a:srgbClr val="C7BFAA"/>
      </a:accent1>
      <a:accent2>
        <a:srgbClr val="40474B"/>
      </a:accent2>
      <a:accent3>
        <a:srgbClr val="9D8BCA"/>
      </a:accent3>
      <a:accent4>
        <a:srgbClr val="E4DFED"/>
      </a:accent4>
      <a:accent5>
        <a:srgbClr val="C7BFAA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321</Words>
  <Application>Microsoft Office PowerPoint</Application>
  <PresentationFormat>On-screen Show (16:9)</PresentationFormat>
  <Paragraphs>81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Hammersmith One</vt:lpstr>
      <vt:lpstr>Manjari</vt:lpstr>
      <vt:lpstr>Roboto Condensed Light</vt:lpstr>
      <vt:lpstr>Elegant Education Pack for Students by Slidesgo</vt:lpstr>
      <vt:lpstr>Prompt Engineering Experiment</vt:lpstr>
      <vt:lpstr>Problems</vt:lpstr>
      <vt:lpstr>Experiment Design</vt:lpstr>
      <vt:lpstr>Prompt Strategies</vt:lpstr>
      <vt:lpstr>Results</vt:lpstr>
      <vt:lpstr>Evidence</vt:lpstr>
      <vt:lpstr>Conclusion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</dc:creator>
  <cp:lastModifiedBy>Twins Store</cp:lastModifiedBy>
  <cp:revision>40</cp:revision>
  <dcterms:modified xsi:type="dcterms:W3CDTF">2026-09-12T22:46:26Z</dcterms:modified>
</cp:coreProperties>
</file>